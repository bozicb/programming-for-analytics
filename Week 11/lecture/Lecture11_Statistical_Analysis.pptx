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34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58" r:id="rId3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696F"/>
    <a:srgbClr val="063A59"/>
    <a:srgbClr val="1BA1AE"/>
    <a:srgbClr val="EC607C"/>
    <a:srgbClr val="EC600C"/>
    <a:srgbClr val="E455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49"/>
    <p:restoredTop sz="74705"/>
  </p:normalViewPr>
  <p:slideViewPr>
    <p:cSldViewPr snapToGrid="0" snapToObjects="1" showGuides="1">
      <p:cViewPr varScale="1">
        <p:scale>
          <a:sx n="72" d="100"/>
          <a:sy n="72" d="100"/>
        </p:scale>
        <p:origin x="216" y="113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92F0D-F785-8C4C-9C08-32D4014FA166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6E7F1-0EE1-434C-9DB8-7CCA03B6B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41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6E7F1-0EE1-434C-9DB8-7CCA03B6B6E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967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F32C-0ABB-4145-A679-00AEBF00F52C}" type="datetimeFigureOut">
              <a:rPr lang="en-US" smtClean="0"/>
              <a:pPr/>
              <a:t>11/27/25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62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F32C-0ABB-4145-A679-00AEBF00F52C}" type="datetimeFigureOut">
              <a:rPr lang="en-US" smtClean="0"/>
              <a:pPr/>
              <a:t>11/27/25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24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F32C-0ABB-4145-A679-00AEBF00F52C}" type="datetimeFigureOut">
              <a:rPr lang="en-US" smtClean="0"/>
              <a:pPr/>
              <a:t>11/27/25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053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F32C-0ABB-4145-A679-00AEBF00F52C}" type="datetimeFigureOut">
              <a:rPr lang="en-US" smtClean="0"/>
              <a:pPr/>
              <a:t>11/27/25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374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F32C-0ABB-4145-A679-00AEBF00F52C}" type="datetimeFigureOut">
              <a:rPr lang="en-US" smtClean="0"/>
              <a:pPr/>
              <a:t>11/27/25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187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F32C-0ABB-4145-A679-00AEBF00F52C}" type="datetimeFigureOut">
              <a:rPr lang="en-US" smtClean="0"/>
              <a:pPr/>
              <a:t>11/27/25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660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F32C-0ABB-4145-A679-00AEBF00F52C}" type="datetimeFigureOut">
              <a:rPr lang="en-US" smtClean="0"/>
              <a:pPr/>
              <a:t>11/27/25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936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F32C-0ABB-4145-A679-00AEBF00F52C}" type="datetimeFigureOut">
              <a:rPr lang="en-US" smtClean="0"/>
              <a:pPr/>
              <a:t>11/27/25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524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F32C-0ABB-4145-A679-00AEBF00F52C}" type="datetimeFigureOut">
              <a:rPr lang="en-US" smtClean="0"/>
              <a:pPr/>
              <a:t>11/27/25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913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F32C-0ABB-4145-A679-00AEBF00F52C}" type="datetimeFigureOut">
              <a:rPr lang="en-US" smtClean="0"/>
              <a:pPr/>
              <a:t>11/27/25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376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F32C-0ABB-4145-A679-00AEBF00F52C}" type="datetimeFigureOut">
              <a:rPr lang="en-US" smtClean="0"/>
              <a:pPr/>
              <a:t>11/27/25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34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1F32C-0ABB-4145-A679-00AEBF00F52C}" type="datetimeFigureOut">
              <a:rPr lang="en-US" smtClean="0"/>
              <a:pPr/>
              <a:t>11/27/25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376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Bojan.bozic@tudublin.ie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5E7B3-A538-7E4E-A1F0-7503DE9ED4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1BA1AE"/>
                </a:solidFill>
                <a:latin typeface="Prophet" panose="02010503020000020004" pitchFamily="2" charset="0"/>
                <a:ea typeface="Prophet" panose="02010503020000020004" pitchFamily="2" charset="0"/>
              </a:rPr>
              <a:t>Programming for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C8999D-6285-2643-888E-7F7B11D975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2571750"/>
            <a:ext cx="8011160" cy="1314450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Visuelt" pitchFamily="2" charset="77"/>
              </a:rPr>
              <a:t>Lecture 11: Statistical Analysis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E2B0B45-13F5-3534-51E4-1A4961B50A85}"/>
              </a:ext>
            </a:extLst>
          </p:cNvPr>
          <p:cNvSpPr txBox="1">
            <a:spLocks/>
          </p:cNvSpPr>
          <p:nvPr/>
        </p:nvSpPr>
        <p:spPr>
          <a:xfrm>
            <a:off x="685800" y="3078480"/>
            <a:ext cx="6400800" cy="135958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bg1"/>
                </a:solidFill>
                <a:latin typeface="Visuelt" pitchFamily="2" charset="77"/>
              </a:rPr>
              <a:t>Bojan Božić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  <a:latin typeface="Visuelt" pitchFamily="2" charset="77"/>
              </a:rPr>
              <a:t>School of Computer Science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  <a:latin typeface="Visuelt" pitchFamily="2" charset="77"/>
              </a:rPr>
              <a:t>TU Dublin, </a:t>
            </a:r>
            <a:r>
              <a:rPr lang="en-US" sz="2000" dirty="0" err="1">
                <a:solidFill>
                  <a:schemeClr val="bg1"/>
                </a:solidFill>
                <a:latin typeface="Visuelt" pitchFamily="2" charset="77"/>
              </a:rPr>
              <a:t>Grangegorman</a:t>
            </a:r>
            <a:endParaRPr lang="en-US" sz="2000" dirty="0">
              <a:solidFill>
                <a:schemeClr val="bg1"/>
              </a:solidFill>
              <a:latin typeface="Visuelt" pitchFamily="2" charset="77"/>
            </a:endParaRPr>
          </a:p>
          <a:p>
            <a:pPr algn="l"/>
            <a:endParaRPr lang="en-US" sz="2000" dirty="0">
              <a:solidFill>
                <a:schemeClr val="bg1"/>
              </a:solidFill>
              <a:latin typeface="Visuelt" pitchFamily="2" charset="77"/>
            </a:endParaRPr>
          </a:p>
          <a:p>
            <a:pPr algn="l"/>
            <a:r>
              <a:rPr lang="en-US" sz="2000" dirty="0">
                <a:solidFill>
                  <a:schemeClr val="bg1"/>
                </a:solidFill>
                <a:latin typeface="Visuelt" pitchFamily="2" charset="77"/>
                <a:hlinkClick r:id="rId4"/>
              </a:rPr>
              <a:t>bojan.bozic@tudublin.ie</a:t>
            </a:r>
            <a:r>
              <a:rPr lang="en-US" sz="2000" dirty="0">
                <a:solidFill>
                  <a:schemeClr val="bg1"/>
                </a:solidFill>
                <a:latin typeface="Visuelt" pitchFamily="2" charset="77"/>
              </a:rPr>
              <a:t> </a:t>
            </a:r>
          </a:p>
          <a:p>
            <a:pPr algn="l"/>
            <a:endParaRPr lang="en-US" sz="2000" dirty="0">
              <a:solidFill>
                <a:schemeClr val="bg1"/>
              </a:solidFill>
              <a:latin typeface="Visuelt" pitchFamily="2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7DDBCF-4874-A2BE-0571-1EDD6C426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E253D2-DCD2-4A1E-FA35-772FBF36D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949036"/>
            <a:ext cx="8617527" cy="364558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Descriptive Statistics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Distribution Analysis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Correlation and Covariance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Hypothesis Testing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Sampling and Confidence Intervals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7D09E-CE1F-AC87-0784-94093C587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Dataset – </a:t>
            </a:r>
            <a:r>
              <a:rPr lang="en-IE" dirty="0" err="1"/>
              <a:t>malazan_stats.csv</a:t>
            </a:r>
            <a:endParaRPr lang="en-I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4A1041-05EC-46F3-D899-05C6E001294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251267"/>
          <a:ext cx="8229600" cy="32918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93957663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79764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Column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Description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343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Commander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533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Army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659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Power_Level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1–100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6005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Combat_Skill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1–100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047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Magic_Aptitude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0–100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76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Morale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1–10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741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20–400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833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Years_of_Service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1–200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777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4849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378B7-D76E-898C-5E8E-EE16F3615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Load 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78F8F-7D9B-C02D-49D3-B793317D1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</a:p>
          <a:p>
            <a:pPr marL="0" indent="0">
              <a:buNone/>
            </a:pP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malazan_stats.csv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df.head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480151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A7D07-12C8-8BCF-FD51-C5AB8C2E7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Descriptive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14070-0A49-225B-E3C1-0F4E0213E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E" dirty="0"/>
              <a:t>Mean</a:t>
            </a:r>
          </a:p>
          <a:p>
            <a:r>
              <a:rPr lang="en-IE" dirty="0"/>
              <a:t>Median</a:t>
            </a:r>
          </a:p>
          <a:p>
            <a:r>
              <a:rPr lang="en-IE" dirty="0"/>
              <a:t>Mode</a:t>
            </a:r>
          </a:p>
          <a:p>
            <a:r>
              <a:rPr lang="en-IE" dirty="0"/>
              <a:t>Variance</a:t>
            </a:r>
          </a:p>
          <a:p>
            <a:r>
              <a:rPr lang="en-IE" dirty="0"/>
              <a:t>Standard deviation</a:t>
            </a:r>
          </a:p>
          <a:p>
            <a:r>
              <a:rPr lang="en-IE" dirty="0"/>
              <a:t>Min/max</a:t>
            </a:r>
          </a:p>
          <a:p>
            <a:r>
              <a:rPr lang="en-IE" dirty="0"/>
              <a:t>Percentiles </a:t>
            </a:r>
          </a:p>
        </p:txBody>
      </p:sp>
    </p:spTree>
    <p:extLst>
      <p:ext uri="{BB962C8B-B14F-4D97-AF65-F5344CB8AC3E}">
        <p14:creationId xmlns:p14="http://schemas.microsoft.com/office/powerpoint/2010/main" val="590396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0EDDC-2F74-FE14-C4C1-5A94F116E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Example: Descriptive Stats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9D9BB-1375-0428-C011-33FC55533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df.describe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Combat_Skill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'].mean()</a:t>
            </a:r>
          </a:p>
          <a:p>
            <a:pPr marL="0" indent="0">
              <a:buNone/>
            </a:pP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Magic_Aptitude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'].median()</a:t>
            </a:r>
          </a:p>
          <a:p>
            <a:pPr marL="0" indent="0">
              <a:buNone/>
            </a:pP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['Morale'].mode()</a:t>
            </a:r>
          </a:p>
          <a:p>
            <a:pPr marL="0" indent="0">
              <a:buNone/>
            </a:pPr>
            <a:endParaRPr lang="en-I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41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2ADEE-80CB-4BB6-FA44-FF1163BF7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Activity: Descriptive Stats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7E949-2445-A5D1-312C-0197D371F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E" dirty="0"/>
              <a:t>Compute the following:</a:t>
            </a:r>
          </a:p>
          <a:p>
            <a:pPr marL="514350" indent="-514350">
              <a:buAutoNum type="arabicPeriod"/>
            </a:pPr>
            <a:r>
              <a:rPr lang="en-IE" dirty="0"/>
              <a:t>Mean 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Power_Level</a:t>
            </a:r>
            <a:endParaRPr lang="en-I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AutoNum type="arabicPeriod"/>
            </a:pPr>
            <a:r>
              <a:rPr lang="en-IE" dirty="0"/>
              <a:t>Median 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Morale</a:t>
            </a:r>
          </a:p>
          <a:p>
            <a:pPr marL="514350" indent="-514350">
              <a:buAutoNum type="arabicPeriod"/>
            </a:pPr>
            <a:r>
              <a:rPr lang="en-IE" dirty="0"/>
              <a:t>Standard deviation of 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Combat_Skill</a:t>
            </a:r>
            <a:endParaRPr lang="en-I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AutoNum type="arabicPeriod"/>
            </a:pPr>
            <a:r>
              <a:rPr lang="en-IE" dirty="0"/>
              <a:t>Which army has the highest average 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Magic_Aptitude</a:t>
            </a:r>
            <a:r>
              <a:rPr lang="en-IE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77705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20C56-CB33-C490-BD98-37A567A6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Distribution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2DD31-BE02-AFA0-53B2-B0D6F51B1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Histograms</a:t>
            </a:r>
          </a:p>
          <a:p>
            <a:r>
              <a:rPr lang="en-IE" dirty="0"/>
              <a:t>KDE plots</a:t>
            </a:r>
          </a:p>
          <a:p>
            <a:r>
              <a:rPr lang="en-IE" dirty="0"/>
              <a:t>Identifying skew</a:t>
            </a:r>
          </a:p>
          <a:p>
            <a:r>
              <a:rPr lang="en-IE" dirty="0"/>
              <a:t>Identifying multimodality</a:t>
            </a:r>
          </a:p>
          <a:p>
            <a:r>
              <a:rPr lang="en-IE" dirty="0"/>
              <a:t>Interpretation (e.g. mage aptitude distribution)</a:t>
            </a:r>
          </a:p>
        </p:txBody>
      </p:sp>
    </p:spTree>
    <p:extLst>
      <p:ext uri="{BB962C8B-B14F-4D97-AF65-F5344CB8AC3E}">
        <p14:creationId xmlns:p14="http://schemas.microsoft.com/office/powerpoint/2010/main" val="1929157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ABCAF-F9E5-3DC1-36C6-C37600A97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Histogram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05117-EF53-B418-7CA7-413C358AB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Magic_Aptitude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'].hist(bins=10)</a:t>
            </a:r>
          </a:p>
        </p:txBody>
      </p:sp>
    </p:spTree>
    <p:extLst>
      <p:ext uri="{BB962C8B-B14F-4D97-AF65-F5344CB8AC3E}">
        <p14:creationId xmlns:p14="http://schemas.microsoft.com/office/powerpoint/2010/main" val="1356301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6E205-AFF3-E3E2-DA23-73564AD5A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KDE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2182E-F812-4666-E855-52935C797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import seaborn as 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sns</a:t>
            </a:r>
            <a:endParaRPr lang="en-I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sns.kdeplot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Combat_Skill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'], fill=True)</a:t>
            </a:r>
          </a:p>
        </p:txBody>
      </p:sp>
    </p:spTree>
    <p:extLst>
      <p:ext uri="{BB962C8B-B14F-4D97-AF65-F5344CB8AC3E}">
        <p14:creationId xmlns:p14="http://schemas.microsoft.com/office/powerpoint/2010/main" val="1537182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C957A-CCAD-AA17-26A3-9A5F3A306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Activity: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AC932-CD57-E902-6459-6D13CCA3F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E" dirty="0"/>
              <a:t>Plot distributions of:</a:t>
            </a:r>
          </a:p>
          <a:p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Power_Level</a:t>
            </a:r>
            <a:endParaRPr lang="en-I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</a:p>
          <a:p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Morale</a:t>
            </a:r>
          </a:p>
          <a:p>
            <a:pPr marL="0" indent="0">
              <a:buNone/>
            </a:pPr>
            <a:r>
              <a:rPr lang="en-GB" dirty="0"/>
              <a:t>Describe: Are they symmetric? Skewed? Bimodal?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738559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C6AA3-D74B-B25F-F878-C7F7E0F15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Covariance and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E9A5A-996E-2E17-FDE4-2ECD307A7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Covariance = direction</a:t>
            </a:r>
          </a:p>
          <a:p>
            <a:r>
              <a:rPr lang="en-IE" dirty="0"/>
              <a:t>Correlation = strength and direction</a:t>
            </a:r>
          </a:p>
          <a:p>
            <a:r>
              <a:rPr lang="en-IE" dirty="0"/>
              <a:t>Use pandas and </a:t>
            </a:r>
            <a:r>
              <a:rPr lang="en-IE" dirty="0" err="1"/>
              <a:t>numpy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351211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17A0B-283A-7383-C338-711B994E3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Correlation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B89BB-38B8-4A3C-B663-39A6E8DEE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numerical_columns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].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corr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59308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4DB98-0D9A-D7C8-0C89-FB0BE4D78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Heatmap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F4D8E-207B-1B8F-9175-6B9537619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sns.heatmap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numerical_columns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].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corr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annot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=True, 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cmap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coolwarm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4160480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6AB6D-D50E-B742-EFFF-A5DC043EA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Interpret Example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9A95F-6D75-D75E-8C5F-46B356234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E" dirty="0"/>
              <a:t>Possible interpretations:</a:t>
            </a:r>
          </a:p>
          <a:p>
            <a:r>
              <a:rPr lang="en-IE" dirty="0"/>
              <a:t>High correlation between 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Power</a:t>
            </a:r>
            <a:r>
              <a:rPr lang="en-IE" dirty="0"/>
              <a:t> and 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Combat_Skill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E" dirty="0"/>
              <a:t>-&gt; fighters</a:t>
            </a:r>
          </a:p>
          <a:p>
            <a:r>
              <a:rPr lang="en-IE" dirty="0"/>
              <a:t>High correlation between 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Magic_Aptitude</a:t>
            </a:r>
            <a:r>
              <a:rPr lang="en-IE" dirty="0"/>
              <a:t> and 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en-IE" dirty="0"/>
              <a:t> -&gt; older mages are stronger</a:t>
            </a:r>
          </a:p>
          <a:p>
            <a:r>
              <a:rPr lang="en-IE" dirty="0"/>
              <a:t>Negative correlation between </a:t>
            </a:r>
          </a:p>
          <a:p>
            <a:pPr marL="0" indent="0">
              <a:buNone/>
            </a:pP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	Morale</a:t>
            </a:r>
            <a:r>
              <a:rPr lang="en-IE" dirty="0"/>
              <a:t> and 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en-IE" dirty="0"/>
              <a:t> -&gt; older = grumpier</a:t>
            </a:r>
          </a:p>
        </p:txBody>
      </p:sp>
    </p:spTree>
    <p:extLst>
      <p:ext uri="{BB962C8B-B14F-4D97-AF65-F5344CB8AC3E}">
        <p14:creationId xmlns:p14="http://schemas.microsoft.com/office/powerpoint/2010/main" val="2785110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4662F-FC92-C5D6-1DE1-8FC9AEB5E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Activity: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631F7-FD25-8EA5-1E22-8397F0780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Which two attributes have the highest correlation?</a:t>
            </a:r>
          </a:p>
          <a:p>
            <a:r>
              <a:rPr lang="en-IE" dirty="0"/>
              <a:t>Which are negatively correlated?</a:t>
            </a:r>
          </a:p>
          <a:p>
            <a:r>
              <a:rPr lang="en-IE" dirty="0"/>
              <a:t>Provide an in-world </a:t>
            </a:r>
            <a:r>
              <a:rPr lang="en-IE" dirty="0" err="1"/>
              <a:t>Malazan</a:t>
            </a:r>
            <a:r>
              <a:rPr lang="en-IE" dirty="0"/>
              <a:t> explanation for each correlation.</a:t>
            </a:r>
          </a:p>
        </p:txBody>
      </p:sp>
    </p:spTree>
    <p:extLst>
      <p:ext uri="{BB962C8B-B14F-4D97-AF65-F5344CB8AC3E}">
        <p14:creationId xmlns:p14="http://schemas.microsoft.com/office/powerpoint/2010/main" val="2290947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53BF-DA22-9C68-793C-72D12BCB0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Hypothesis Testing 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2FEEB-850A-C6BC-1BEA-20667392D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Null hypothesis</a:t>
            </a:r>
          </a:p>
          <a:p>
            <a:r>
              <a:rPr lang="en-IE" dirty="0"/>
              <a:t>P-values</a:t>
            </a:r>
          </a:p>
          <a:p>
            <a:r>
              <a:rPr lang="en-IE" dirty="0"/>
              <a:t>T-tests (independent and paired)</a:t>
            </a:r>
          </a:p>
          <a:p>
            <a:r>
              <a:rPr lang="en-IE" dirty="0"/>
              <a:t>ANOVA (multiple groups)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959056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4B3E2-4B4C-F0FE-7730-CCBAC1722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Example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02228-8104-012F-06A6-48D7B0517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Do </a:t>
            </a:r>
            <a:r>
              <a:rPr lang="en-IE" dirty="0" err="1"/>
              <a:t>Bridgeburners</a:t>
            </a:r>
            <a:r>
              <a:rPr lang="en-IE" dirty="0"/>
              <a:t> have higher 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Combat_Skill</a:t>
            </a:r>
            <a:r>
              <a:rPr lang="en-IE" dirty="0"/>
              <a:t> than Claw agents?</a:t>
            </a:r>
          </a:p>
        </p:txBody>
      </p:sp>
    </p:spTree>
    <p:extLst>
      <p:ext uri="{BB962C8B-B14F-4D97-AF65-F5344CB8AC3E}">
        <p14:creationId xmlns:p14="http://schemas.microsoft.com/office/powerpoint/2010/main" val="1911589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BC7D9-F571-A069-AC10-13AF513F4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T-test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5322C-66CB-9BB4-3D82-074BFB814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scipy.stats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ttest_ind</a:t>
            </a:r>
            <a:endParaRPr lang="en-I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I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bb = 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['Army']=="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Bridgeburners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"]['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Combat_Skill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</a:p>
          <a:p>
            <a:pPr marL="0" indent="0">
              <a:buNone/>
            </a:pP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cl = 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['Army']=="Claw"]['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Combat_Skill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</a:p>
          <a:p>
            <a:pPr marL="0" indent="0">
              <a:buNone/>
            </a:pPr>
            <a:endParaRPr lang="en-I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ttest_ind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(bb, cl)</a:t>
            </a:r>
          </a:p>
        </p:txBody>
      </p:sp>
    </p:spTree>
    <p:extLst>
      <p:ext uri="{BB962C8B-B14F-4D97-AF65-F5344CB8AC3E}">
        <p14:creationId xmlns:p14="http://schemas.microsoft.com/office/powerpoint/2010/main" val="5327339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DE4CF-1FFC-E413-4BC0-AD60BB8CA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Interpreting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BC81-0634-8FDA-3A90-9A010AE1E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 &lt; 0.05 → significant</a:t>
            </a:r>
          </a:p>
          <a:p>
            <a:r>
              <a:rPr lang="en-GB" dirty="0"/>
              <a:t>p ≥ 0.05 → not significant</a:t>
            </a:r>
          </a:p>
          <a:p>
            <a:r>
              <a:rPr lang="en-GB" dirty="0"/>
              <a:t>What does this mean narratively?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707779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A2337-4179-1502-AAA6-340EEB51A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Activity: t-test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58ABD-CD48-D79A-6107-78CEDC16B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Perform a t-test: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dirty="0"/>
              <a:t>“Do mages 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Magic_Aptitude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&gt; 50</a:t>
            </a:r>
            <a:r>
              <a:rPr lang="en-GB" dirty="0"/>
              <a:t>) have significantly higher Morale than non-mages?”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584578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C51BA-E975-E6D6-E99F-31EC5DD05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ANOVA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46511-2FDD-C89D-9DA8-9206D8693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E" dirty="0"/>
              <a:t>Used when comparing 3+ groups: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scipy.stats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f_oneway</a:t>
            </a:r>
            <a:endParaRPr lang="en-I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I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groups = [ 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['Army']==a]['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Power_Level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'] for a in 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['Army'].unique() ]</a:t>
            </a:r>
          </a:p>
          <a:p>
            <a:pPr marL="0" indent="0">
              <a:buNone/>
            </a:pP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f_oneway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(*groups)</a:t>
            </a:r>
          </a:p>
        </p:txBody>
      </p:sp>
    </p:spTree>
    <p:extLst>
      <p:ext uri="{BB962C8B-B14F-4D97-AF65-F5344CB8AC3E}">
        <p14:creationId xmlns:p14="http://schemas.microsoft.com/office/powerpoint/2010/main" val="19369800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1223B-B413-5186-C060-E30404583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Activity: ANOVA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15C53-CDD1-48DB-5678-EFF4A5D73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Perform an ANOVA: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dirty="0"/>
              <a:t>“Is there a difference in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Power_Level</a:t>
            </a:r>
            <a:r>
              <a:rPr lang="en-GB" dirty="0"/>
              <a:t> across armies?”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4760829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0396E-5682-466B-3908-5609DEC5E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Sampling and Confidence Intervals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A5057-300D-A352-A7D7-2C992BF47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Bootstrapping</a:t>
            </a:r>
          </a:p>
          <a:p>
            <a:r>
              <a:rPr lang="en-GB" dirty="0"/>
              <a:t>Standard error</a:t>
            </a:r>
          </a:p>
          <a:p>
            <a:r>
              <a:rPr lang="en-GB" dirty="0"/>
              <a:t>Confidence intervals (CI)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6445192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27090-A9EA-DFAD-3481-979152FB9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Bootstrapping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F4572-E78B-17CB-F9C2-51E65246D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 as np</a:t>
            </a:r>
          </a:p>
          <a:p>
            <a:pPr marL="0" indent="0">
              <a:buNone/>
            </a:pPr>
            <a:endParaRPr lang="en-I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samples = [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Combat_Skill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'].sample(frac=1, replace=True).mean()</a:t>
            </a:r>
          </a:p>
          <a:p>
            <a:pPr marL="0" indent="0">
              <a:buNone/>
            </a:pP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for _ in range(2000)]</a:t>
            </a:r>
          </a:p>
          <a:p>
            <a:pPr marL="0" indent="0">
              <a:buNone/>
            </a:pP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np.percentile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(samples, [2.5,97.5])</a:t>
            </a:r>
          </a:p>
        </p:txBody>
      </p:sp>
    </p:spTree>
    <p:extLst>
      <p:ext uri="{BB962C8B-B14F-4D97-AF65-F5344CB8AC3E}">
        <p14:creationId xmlns:p14="http://schemas.microsoft.com/office/powerpoint/2010/main" val="42351809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D2C36-87FF-DE04-12C1-5B1C7575F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Activity: Confidence Interval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251E1-F76E-F0EF-16DC-77F3CCEF1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dirty="0"/>
              <a:t>Compute a 95% CI for 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Magic_Aptitude</a:t>
            </a:r>
            <a:r>
              <a:rPr lang="en-IE" dirty="0"/>
              <a:t> mean.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/>
              <a:t>Interpret the result.</a:t>
            </a:r>
          </a:p>
        </p:txBody>
      </p:sp>
    </p:spTree>
    <p:extLst>
      <p:ext uri="{BB962C8B-B14F-4D97-AF65-F5344CB8AC3E}">
        <p14:creationId xmlns:p14="http://schemas.microsoft.com/office/powerpoint/2010/main" val="22404388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B4286-9308-F6C4-4C24-CD43EA23C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Putting it all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A2989-3301-D6D6-8EDD-9AF841043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We will now answer: </a:t>
            </a:r>
            <a:r>
              <a:rPr lang="en-GB" b="1" dirty="0"/>
              <a:t>“Which army is statistically strongest?”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Using:</a:t>
            </a:r>
          </a:p>
          <a:p>
            <a:r>
              <a:rPr lang="en-GB" dirty="0"/>
              <a:t>mean comparisons</a:t>
            </a:r>
          </a:p>
          <a:p>
            <a:r>
              <a:rPr lang="en-GB" dirty="0"/>
              <a:t>variance</a:t>
            </a:r>
          </a:p>
          <a:p>
            <a:r>
              <a:rPr lang="en-GB" dirty="0"/>
              <a:t>distribution shape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448818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5741E-D3EE-F1E1-07EE-616E9B1D9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Group 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9D104-6359-093D-6D6C-F132A8DC5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df.groupby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('Army')[['Power_Level','Combat_Skill','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Magic_Aptitude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']].mean()</a:t>
            </a:r>
          </a:p>
        </p:txBody>
      </p:sp>
    </p:spTree>
    <p:extLst>
      <p:ext uri="{BB962C8B-B14F-4D97-AF65-F5344CB8AC3E}">
        <p14:creationId xmlns:p14="http://schemas.microsoft.com/office/powerpoint/2010/main" val="10492756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29D25-A06F-5D17-6BC5-AFBB1CCE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Boxplots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A11CE-1269-4387-AE23-0AFB59C49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sns.boxplot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(data=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, x='Army', y='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Power_Level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</p:txBody>
      </p:sp>
    </p:spTree>
    <p:extLst>
      <p:ext uri="{BB962C8B-B14F-4D97-AF65-F5344CB8AC3E}">
        <p14:creationId xmlns:p14="http://schemas.microsoft.com/office/powerpoint/2010/main" val="10395074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997D5-0784-DD57-6A79-4694630E5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High Level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09D0B-8F7D-E25F-ED61-DF0B06A6B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Example conclusions:</a:t>
            </a:r>
          </a:p>
          <a:p>
            <a:r>
              <a:rPr lang="en-GB" dirty="0" err="1"/>
              <a:t>Toblakai</a:t>
            </a:r>
            <a:r>
              <a:rPr lang="en-GB" dirty="0"/>
              <a:t>: strongest melee</a:t>
            </a:r>
          </a:p>
          <a:p>
            <a:r>
              <a:rPr lang="en-GB" dirty="0" err="1"/>
              <a:t>Bridgeburners</a:t>
            </a:r>
            <a:r>
              <a:rPr lang="en-GB" dirty="0"/>
              <a:t>: balanced elite force</a:t>
            </a:r>
          </a:p>
          <a:p>
            <a:r>
              <a:rPr lang="en-GB" dirty="0"/>
              <a:t>Claw: best mages</a:t>
            </a:r>
          </a:p>
          <a:p>
            <a:r>
              <a:rPr lang="en-GB" dirty="0" err="1"/>
              <a:t>Trake’s</a:t>
            </a:r>
            <a:r>
              <a:rPr lang="en-GB" dirty="0"/>
              <a:t> Legion: high morale fighters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0525181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1BAE8-1967-BEAC-A369-D9DEA9D76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Full Analysis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D4506-C0DB-ACA7-48ED-6A29F3B94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E" dirty="0"/>
              <a:t>Using everything from today: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Identify top 3 strongest commanders.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Identify 3 biggest outliers.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Determine which army is “most consistent”.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Provide one recommendation to the Emperor/Empress.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5385390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BFC011-FF62-DF50-5801-FF39300BC1DE}"/>
              </a:ext>
            </a:extLst>
          </p:cNvPr>
          <p:cNvSpPr txBox="1"/>
          <p:nvPr/>
        </p:nvSpPr>
        <p:spPr>
          <a:xfrm>
            <a:off x="3454400" y="2279362"/>
            <a:ext cx="22637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 Dublin">
  <a:themeElements>
    <a:clrScheme name="TU Dublin Presentation0000oo">
      <a:dk1>
        <a:srgbClr val="004C6C"/>
      </a:dk1>
      <a:lt1>
        <a:srgbClr val="FFFFFF"/>
      </a:lt1>
      <a:dk2>
        <a:srgbClr val="452A64"/>
      </a:dk2>
      <a:lt2>
        <a:srgbClr val="EEECE1"/>
      </a:lt2>
      <a:accent1>
        <a:srgbClr val="004C6C"/>
      </a:accent1>
      <a:accent2>
        <a:srgbClr val="B60057"/>
      </a:accent2>
      <a:accent3>
        <a:srgbClr val="CFC600"/>
      </a:accent3>
      <a:accent4>
        <a:srgbClr val="837EBA"/>
      </a:accent4>
      <a:accent5>
        <a:srgbClr val="2856A3"/>
      </a:accent5>
      <a:accent6>
        <a:srgbClr val="F0823C"/>
      </a:accent6>
      <a:hlink>
        <a:srgbClr val="00A9B7"/>
      </a:hlink>
      <a:folHlink>
        <a:srgbClr val="CE122C"/>
      </a:folHlink>
    </a:clrScheme>
    <a:fontScheme name="TUDublin">
      <a:majorFont>
        <a:latin typeface="Prophet"/>
        <a:ea typeface=""/>
        <a:cs typeface=""/>
      </a:majorFont>
      <a:minorFont>
        <a:latin typeface="Visue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U Dublin blue" id="{6D57FD24-6AFF-7F41-B61B-15129C67D53B}" vid="{5494679D-FC2E-284F-BAB5-6633A551CA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66317cb-e948-4e5f-8cec-dabc8e2fd5da}" enabled="0" method="" siteId="{766317cb-e948-4e5f-8cec-dabc8e2fd5d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TU Dublin</Template>
  <TotalTime>77012</TotalTime>
  <Words>749</Words>
  <Application>Microsoft Macintosh PowerPoint</Application>
  <PresentationFormat>On-screen Show (16:9)</PresentationFormat>
  <Paragraphs>160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Prophet</vt:lpstr>
      <vt:lpstr>Visuelt</vt:lpstr>
      <vt:lpstr>Arial</vt:lpstr>
      <vt:lpstr>Calibri</vt:lpstr>
      <vt:lpstr>Courier New</vt:lpstr>
      <vt:lpstr>TU Dublin</vt:lpstr>
      <vt:lpstr>Programming for Analytics</vt:lpstr>
      <vt:lpstr>Overview</vt:lpstr>
      <vt:lpstr>The Dataset – malazan_stats.csv</vt:lpstr>
      <vt:lpstr>Load the Dataset</vt:lpstr>
      <vt:lpstr>Descriptive Statistics</vt:lpstr>
      <vt:lpstr>Example: Descriptive Stats</vt:lpstr>
      <vt:lpstr>Activity: Descriptive Stats</vt:lpstr>
      <vt:lpstr>Distribution Analysis</vt:lpstr>
      <vt:lpstr>Histogram Example</vt:lpstr>
      <vt:lpstr>KDE Example</vt:lpstr>
      <vt:lpstr>Activity: Distributions</vt:lpstr>
      <vt:lpstr>Covariance and Correlation</vt:lpstr>
      <vt:lpstr>Correlation Matrix</vt:lpstr>
      <vt:lpstr>Heatmap</vt:lpstr>
      <vt:lpstr>Interpret Example Findings</vt:lpstr>
      <vt:lpstr>Activity: Correlation</vt:lpstr>
      <vt:lpstr>Hypothesis Testing Intro</vt:lpstr>
      <vt:lpstr>Example Question</vt:lpstr>
      <vt:lpstr>T-test Example</vt:lpstr>
      <vt:lpstr>Interpreting Results</vt:lpstr>
      <vt:lpstr>Activity: t-test</vt:lpstr>
      <vt:lpstr>ANOVA</vt:lpstr>
      <vt:lpstr>Activity: ANOVA</vt:lpstr>
      <vt:lpstr>Sampling and Confidence Intervals</vt:lpstr>
      <vt:lpstr>Bootstrapping Example</vt:lpstr>
      <vt:lpstr>Activity: Confidence Interval</vt:lpstr>
      <vt:lpstr>Putting it all Together</vt:lpstr>
      <vt:lpstr>Group Means</vt:lpstr>
      <vt:lpstr>Boxplots</vt:lpstr>
      <vt:lpstr>High Level Summary</vt:lpstr>
      <vt:lpstr>Full Analysis Challenge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Bujar Raufi</dc:creator>
  <cp:lastModifiedBy>Božić Bojan</cp:lastModifiedBy>
  <cp:revision>231</cp:revision>
  <dcterms:created xsi:type="dcterms:W3CDTF">2024-01-17T12:16:21Z</dcterms:created>
  <dcterms:modified xsi:type="dcterms:W3CDTF">2025-12-02T14:23:58Z</dcterms:modified>
</cp:coreProperties>
</file>